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58" r:id="rId7"/>
  </p:sldIdLst>
  <p:sldSz cx="12192000" cy="6858000"/>
  <p:notesSz cx="6858000" cy="9144000"/>
  <p:defaultTextStyle>
    <a:defPPr>
      <a:defRPr lang="en-L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654"/>
  </p:normalViewPr>
  <p:slideViewPr>
    <p:cSldViewPr snapToGrid="0" snapToObjects="1">
      <p:cViewPr varScale="1">
        <p:scale>
          <a:sx n="104" d="100"/>
          <a:sy n="104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6B3D2-9A92-6E4F-9AB4-3B1289393D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L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1CC9C-EB16-B442-AB91-0EE97881E2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L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E9FBD-D3AA-2641-965F-99DB9F376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160A2-F108-FF43-9D19-325274B3D09E}" type="datetimeFigureOut">
              <a:rPr lang="en-LU" smtClean="0"/>
              <a:t>31/01/2020</a:t>
            </a:fld>
            <a:endParaRPr lang="en-L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89E44-34AE-A94E-8695-3783639E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B0CA9-A7E2-DC4C-8D05-87CA395BE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62423-029A-DE4B-8AB7-A8D24EFC7D71}" type="slidenum">
              <a:rPr lang="en-LU" smtClean="0"/>
              <a:t>‹#›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1947904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C4A82-C86F-574F-BF8F-F4A5D32C3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BD7DA-B847-7C4B-A7BA-854359171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442B0-B37A-CE4C-B9DE-D345F9370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160A2-F108-FF43-9D19-325274B3D09E}" type="datetimeFigureOut">
              <a:rPr lang="en-LU" smtClean="0"/>
              <a:t>31/01/2020</a:t>
            </a:fld>
            <a:endParaRPr lang="en-L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1592E-D6CD-604A-A327-7D41959E1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347C7-4AD8-BE4F-9388-0E92EEF4A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62423-029A-DE4B-8AB7-A8D24EFC7D71}" type="slidenum">
              <a:rPr lang="en-LU" smtClean="0"/>
              <a:t>‹#›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2836279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B0FB1-D55F-8A42-AE5A-B82F1AFCB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L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94AC2-2FF6-E94B-81FC-987DB0CD1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B40DB-3BB2-9144-9375-C0B01549D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160A2-F108-FF43-9D19-325274B3D09E}" type="datetimeFigureOut">
              <a:rPr lang="en-LU" smtClean="0"/>
              <a:t>31/01/2020</a:t>
            </a:fld>
            <a:endParaRPr lang="en-L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1197E-D505-C741-94EB-B7D13833B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972F4-2C8C-C54E-ADBB-7F7FF6C4F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62423-029A-DE4B-8AB7-A8D24EFC7D71}" type="slidenum">
              <a:rPr lang="en-LU" smtClean="0"/>
              <a:t>‹#›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2504206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59284-582F-9045-B2AC-9D89F92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B40AC-C5CE-8B4B-9ABB-B0BB2DE59A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B30E89-D7C7-6C47-967D-146977275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73383-8F57-0F40-96FB-9447D8EA4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160A2-F108-FF43-9D19-325274B3D09E}" type="datetimeFigureOut">
              <a:rPr lang="en-LU" smtClean="0"/>
              <a:t>31/01/2020</a:t>
            </a:fld>
            <a:endParaRPr lang="en-L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6026DD-6C4B-0442-B156-19CD51168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D4F5A-375C-9D40-9AB4-279ABF25E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62423-029A-DE4B-8AB7-A8D24EFC7D71}" type="slidenum">
              <a:rPr lang="en-LU" smtClean="0"/>
              <a:t>‹#›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1821734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BF206-5D9F-7C40-A8FD-8FA8E2446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L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4E8F4-19D3-9B43-8B97-A8773782D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84B6C-227A-5C42-A07F-C566C0402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E44F18-11FA-5943-A7B8-F3332C8F26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3B55BA-6FE5-E246-A475-A8CC55AEF6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633602-4924-D24B-9D14-2FDA5DA3F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160A2-F108-FF43-9D19-325274B3D09E}" type="datetimeFigureOut">
              <a:rPr lang="en-LU" smtClean="0"/>
              <a:t>31/01/2020</a:t>
            </a:fld>
            <a:endParaRPr lang="en-L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BC1BBE-FE70-B943-948A-6A3EE33BA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337A95-5762-AA4F-B56D-37E8D2B98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62423-029A-DE4B-8AB7-A8D24EFC7D71}" type="slidenum">
              <a:rPr lang="en-LU" smtClean="0"/>
              <a:t>‹#›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491225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F4FDB-7F49-2F45-94F5-98E4149B4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A479E4-60D6-A745-A71B-C96A8F607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160A2-F108-FF43-9D19-325274B3D09E}" type="datetimeFigureOut">
              <a:rPr lang="en-LU" smtClean="0"/>
              <a:t>31/01/2020</a:t>
            </a:fld>
            <a:endParaRPr lang="en-L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1F811B-1A8A-484F-9DB6-35AD8374E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9E876A-F82C-284B-9FBC-B4B09B5E7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62423-029A-DE4B-8AB7-A8D24EFC7D71}" type="slidenum">
              <a:rPr lang="en-LU" smtClean="0"/>
              <a:t>‹#›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2647424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C0C25B-7260-2A47-8034-FBBF4AB62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160A2-F108-FF43-9D19-325274B3D09E}" type="datetimeFigureOut">
              <a:rPr lang="en-LU" smtClean="0"/>
              <a:t>31/01/2020</a:t>
            </a:fld>
            <a:endParaRPr lang="en-L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185FF6-28FA-7F4D-AEB2-EC7F972ED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88CCD-05F0-4547-963D-4DFC7940C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62423-029A-DE4B-8AB7-A8D24EFC7D71}" type="slidenum">
              <a:rPr lang="en-LU" smtClean="0"/>
              <a:t>‹#›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3994285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D716C-D71E-204C-8B90-E539D4734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A3E1E-97A3-4B4E-9B42-9850899BF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48164E-CFD1-DA48-830B-079BB1FE0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34B5E-33EC-E24F-B4D8-00EFCE9BD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160A2-F108-FF43-9D19-325274B3D09E}" type="datetimeFigureOut">
              <a:rPr lang="en-LU" smtClean="0"/>
              <a:t>31/01/2020</a:t>
            </a:fld>
            <a:endParaRPr lang="en-L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5C660-C725-4D4D-BF0C-DE8F473A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C5467-5FD0-954B-915E-E623719FE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62423-029A-DE4B-8AB7-A8D24EFC7D71}" type="slidenum">
              <a:rPr lang="en-LU" smtClean="0"/>
              <a:t>‹#›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2332453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135AD-95EA-D540-99DA-40968CEBF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EDE6D7-94AC-964B-981A-61F92F22CD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L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08A012-D819-9C42-B131-0F80C8149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3DB0A2-84F9-984C-BF64-76B5EA8B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160A2-F108-FF43-9D19-325274B3D09E}" type="datetimeFigureOut">
              <a:rPr lang="en-LU" smtClean="0"/>
              <a:t>31/01/2020</a:t>
            </a:fld>
            <a:endParaRPr lang="en-L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0FD3B-73BD-2845-84F5-18E9AD55A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CBB98-0F63-AE4F-8FA7-B7ECB9BCB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62423-029A-DE4B-8AB7-A8D24EFC7D71}" type="slidenum">
              <a:rPr lang="en-LU" smtClean="0"/>
              <a:t>‹#›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1020225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8731F-4C48-3B4D-B431-086D9E1CA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8E2B5-4CE4-0D48-B7AF-0DEB0FCA3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8118F-95FC-C34C-AA1F-4EB4F8F0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160A2-F108-FF43-9D19-325274B3D09E}" type="datetimeFigureOut">
              <a:rPr lang="en-LU" smtClean="0"/>
              <a:t>31/01/2020</a:t>
            </a:fld>
            <a:endParaRPr lang="en-L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DCAE3-F953-8642-8C59-F9A5E3A1C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A15B8-880F-4346-8166-96D791985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62423-029A-DE4B-8AB7-A8D24EFC7D71}" type="slidenum">
              <a:rPr lang="en-LU" smtClean="0"/>
              <a:t>‹#›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1870000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389681-E287-314E-AE7B-4BC436C9C8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L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09DF41-E2F5-F441-A98F-AB5050C8A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08C78-B039-5648-9A76-BC5D086A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160A2-F108-FF43-9D19-325274B3D09E}" type="datetimeFigureOut">
              <a:rPr lang="en-LU" smtClean="0"/>
              <a:t>31/01/2020</a:t>
            </a:fld>
            <a:endParaRPr lang="en-L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11A6B-2629-CE42-9DD6-A990FBB3E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3B57B-42D2-214E-93CA-069EDAC86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62423-029A-DE4B-8AB7-A8D24EFC7D71}" type="slidenum">
              <a:rPr lang="en-LU" smtClean="0"/>
              <a:t>‹#›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3507958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B9341-0DA0-B241-900B-A38C50295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L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4B82E-B5C8-4D4C-8E47-0909C2031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5C532-D1E0-924A-A217-318A7B5A7A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160A2-F108-FF43-9D19-325274B3D09E}" type="datetimeFigureOut">
              <a:rPr lang="en-LU" smtClean="0"/>
              <a:t>31/01/2020</a:t>
            </a:fld>
            <a:endParaRPr lang="en-L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D65CF-1277-BF41-855A-18954E4549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L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0558C-F078-E44C-B82B-637192C5A5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62423-029A-DE4B-8AB7-A8D24EFC7D71}" type="slidenum">
              <a:rPr lang="en-LU" smtClean="0"/>
              <a:t>‹#›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2178956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F9EB9F2-07E2-4D64-BBD8-BB5B217F1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2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644DED-DA65-0042-9F09-2583FF3F1D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0588" y="965199"/>
            <a:ext cx="6766078" cy="4927601"/>
          </a:xfrm>
        </p:spPr>
        <p:txBody>
          <a:bodyPr anchor="ctr">
            <a:normAutofit/>
          </a:bodyPr>
          <a:lstStyle/>
          <a:p>
            <a:pPr algn="l"/>
            <a:r>
              <a:rPr lang="en-GB" sz="5400" b="1">
                <a:solidFill>
                  <a:schemeClr val="tx1">
                    <a:lumMod val="85000"/>
                    <a:lumOff val="15000"/>
                  </a:schemeClr>
                </a:solidFill>
              </a:rPr>
              <a:t>Project 21 : Compairing two given random requences</a:t>
            </a:r>
            <a:endParaRPr lang="en-LU" sz="5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78835D-4D3B-A647-8122-71DB3FAD4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3257" y="965198"/>
            <a:ext cx="2707937" cy="4927602"/>
          </a:xfrm>
        </p:spPr>
        <p:txBody>
          <a:bodyPr anchor="ctr">
            <a:normAutofit/>
          </a:bodyPr>
          <a:lstStyle/>
          <a:p>
            <a:pPr algn="r"/>
            <a:r>
              <a:rPr lang="en-GB" sz="2000">
                <a:solidFill>
                  <a:schemeClr val="accent1"/>
                </a:solidFill>
              </a:rPr>
              <a:t>Author: Jingjing XU / Student ID: 0180092002 / University of Luxembourg </a:t>
            </a:r>
          </a:p>
          <a:p>
            <a:pPr algn="r"/>
            <a:r>
              <a:rPr lang="en-GB" sz="2000">
                <a:solidFill>
                  <a:schemeClr val="accent1"/>
                </a:solidFill>
              </a:rPr>
              <a:t>Advisor: Prof. Raymond Bisdorff</a:t>
            </a:r>
            <a:endParaRPr lang="en-LU" sz="2000">
              <a:solidFill>
                <a:schemeClr val="accent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0C57C7C-DFE9-4A1E-B7A9-DF40E633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891" y="2057399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976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1316AE-3584-2D45-BC60-EDDFCBA9B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en-GB" dirty="0"/>
              <a:t>Description</a:t>
            </a:r>
            <a:endParaRPr lang="en-LU" dirty="0">
              <a:solidFill>
                <a:schemeClr val="accent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345FA-9CF1-514E-808C-2DE754B2C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1" y="963877"/>
            <a:ext cx="6377769" cy="4930246"/>
          </a:xfrm>
        </p:spPr>
        <p:txBody>
          <a:bodyPr anchor="ctr">
            <a:normAutofit/>
          </a:bodyPr>
          <a:lstStyle/>
          <a:p>
            <a:r>
              <a:rPr lang="en-GB" sz="2400" dirty="0"/>
              <a:t>This project concerns the validation or not of the claim that two given random sequences, X1 and X2, each of length 10000 : see http://</a:t>
            </a:r>
            <a:r>
              <a:rPr lang="en-GB" sz="2400" dirty="0" err="1"/>
              <a:t>sma.uni.lu</a:t>
            </a:r>
            <a:r>
              <a:rPr lang="en-GB" sz="2400" dirty="0"/>
              <a:t>/</a:t>
            </a:r>
            <a:r>
              <a:rPr lang="en-GB" sz="2400" dirty="0" err="1"/>
              <a:t>bisdorff</a:t>
            </a:r>
            <a:r>
              <a:rPr lang="en-GB" sz="2400" dirty="0"/>
              <a:t>/CompStatDec18/project-21Data.csv have been obtained from the same RNG.</a:t>
            </a:r>
            <a:endParaRPr lang="en-LU" sz="2400" dirty="0"/>
          </a:p>
        </p:txBody>
      </p:sp>
    </p:spTree>
    <p:extLst>
      <p:ext uri="{BB962C8B-B14F-4D97-AF65-F5344CB8AC3E}">
        <p14:creationId xmlns:p14="http://schemas.microsoft.com/office/powerpoint/2010/main" val="3527332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316AE-3584-2D45-BC60-EDDFCBA9B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en-GB" dirty="0"/>
              <a:t>Tasks</a:t>
            </a:r>
            <a:endParaRPr lang="en-LU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345FA-9CF1-514E-808C-2DE754B2C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1" y="963877"/>
            <a:ext cx="6377769" cy="4930246"/>
          </a:xfrm>
        </p:spPr>
        <p:txBody>
          <a:bodyPr anchor="ctr">
            <a:normAutofit/>
          </a:bodyPr>
          <a:lstStyle/>
          <a:p>
            <a:r>
              <a:rPr lang="en-GB" sz="2400" dirty="0"/>
              <a:t>1. Compare statistically and graphically the two given random sequences X1 and X2. </a:t>
            </a:r>
          </a:p>
          <a:p>
            <a:r>
              <a:rPr lang="en-GB" sz="2400" dirty="0"/>
              <a:t>2. Are the given sequences X1 and X2 potentially drawn from the same RNG ? </a:t>
            </a:r>
          </a:p>
          <a:p>
            <a:r>
              <a:rPr lang="en-GB" sz="2400" dirty="0"/>
              <a:t>3. Motivate your answer with arguments taken from the Computational Statistics Course.</a:t>
            </a:r>
            <a:endParaRPr lang="en-LU" sz="2400" dirty="0"/>
          </a:p>
        </p:txBody>
      </p:sp>
    </p:spTree>
    <p:extLst>
      <p:ext uri="{BB962C8B-B14F-4D97-AF65-F5344CB8AC3E}">
        <p14:creationId xmlns:p14="http://schemas.microsoft.com/office/powerpoint/2010/main" val="1099251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316AE-3584-2D45-BC60-EDDFCBA9B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en-LU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345FA-9CF1-514E-808C-2DE754B2C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1" y="963877"/>
            <a:ext cx="6377769" cy="4930246"/>
          </a:xfrm>
        </p:spPr>
        <p:txBody>
          <a:bodyPr anchor="ctr">
            <a:normAutofit/>
          </a:bodyPr>
          <a:lstStyle/>
          <a:p>
            <a:r>
              <a:rPr lang="en-GB" sz="2400" dirty="0"/>
              <a:t>1. get data </a:t>
            </a:r>
          </a:p>
          <a:p>
            <a:pPr lvl="1"/>
            <a:r>
              <a:rPr lang="en-GB" sz="2000" dirty="0"/>
              <a:t>1.1 Correlation </a:t>
            </a:r>
          </a:p>
          <a:p>
            <a:r>
              <a:rPr lang="en-GB" sz="2400" dirty="0"/>
              <a:t>Test 2. Distribution Test </a:t>
            </a:r>
          </a:p>
          <a:p>
            <a:pPr lvl="1"/>
            <a:r>
              <a:rPr lang="en-GB" sz="2000" dirty="0"/>
              <a:t>2.1 Chi-squared </a:t>
            </a:r>
            <a:r>
              <a:rPr lang="en-GB" sz="2000" dirty="0" err="1"/>
              <a:t>Test（chisq.test</a:t>
            </a:r>
            <a:r>
              <a:rPr lang="en-GB" sz="2000" dirty="0"/>
              <a:t>） </a:t>
            </a:r>
          </a:p>
          <a:p>
            <a:pPr lvl="1"/>
            <a:r>
              <a:rPr lang="en-GB" sz="2000" dirty="0"/>
              <a:t>2.2 Kolmogorov–Smirnov test (</a:t>
            </a:r>
            <a:r>
              <a:rPr lang="en-GB" sz="2000" dirty="0" err="1"/>
              <a:t>ks.test</a:t>
            </a:r>
            <a:r>
              <a:rPr lang="en-GB" sz="2000" dirty="0"/>
              <a:t>) </a:t>
            </a:r>
          </a:p>
          <a:p>
            <a:pPr lvl="1"/>
            <a:r>
              <a:rPr lang="en-GB" sz="2000" dirty="0"/>
              <a:t>2.3 Empirical Tests </a:t>
            </a:r>
          </a:p>
          <a:p>
            <a:pPr lvl="2"/>
            <a:r>
              <a:rPr lang="en-GB" sz="1600" dirty="0"/>
              <a:t>2.3.1 Gap Test (</a:t>
            </a:r>
            <a:r>
              <a:rPr lang="en-GB" sz="1600" dirty="0" err="1"/>
              <a:t>gap.test</a:t>
            </a:r>
            <a:r>
              <a:rPr lang="en-GB" sz="1600" dirty="0"/>
              <a:t>) </a:t>
            </a:r>
          </a:p>
          <a:p>
            <a:pPr lvl="2"/>
            <a:r>
              <a:rPr lang="en-GB" sz="1600" dirty="0"/>
              <a:t>2.3.2 Serial Test (</a:t>
            </a:r>
            <a:r>
              <a:rPr lang="en-GB" sz="1600" dirty="0" err="1"/>
              <a:t>serial.test</a:t>
            </a:r>
            <a:r>
              <a:rPr lang="en-GB" sz="1600" dirty="0"/>
              <a:t>) </a:t>
            </a:r>
          </a:p>
          <a:p>
            <a:pPr lvl="2"/>
            <a:r>
              <a:rPr lang="en-GB" sz="1600" dirty="0"/>
              <a:t>2.3.3 </a:t>
            </a:r>
            <a:r>
              <a:rPr lang="en-GB" sz="1600" dirty="0" err="1"/>
              <a:t>Equidistribution</a:t>
            </a:r>
            <a:r>
              <a:rPr lang="en-GB" sz="1600" dirty="0"/>
              <a:t> Test (</a:t>
            </a:r>
            <a:r>
              <a:rPr lang="en-GB" sz="1600" dirty="0" err="1"/>
              <a:t>Frequence</a:t>
            </a:r>
            <a:r>
              <a:rPr lang="en-GB" sz="1600" dirty="0"/>
              <a:t> Test-</a:t>
            </a:r>
            <a:r>
              <a:rPr lang="en-GB" sz="1600" dirty="0" err="1"/>
              <a:t>freq.test</a:t>
            </a:r>
            <a:r>
              <a:rPr lang="en-GB" sz="1600" dirty="0"/>
              <a:t>)</a:t>
            </a:r>
            <a:endParaRPr lang="en-LU" sz="1600" dirty="0"/>
          </a:p>
        </p:txBody>
      </p:sp>
    </p:spTree>
    <p:extLst>
      <p:ext uri="{BB962C8B-B14F-4D97-AF65-F5344CB8AC3E}">
        <p14:creationId xmlns:p14="http://schemas.microsoft.com/office/powerpoint/2010/main" val="1365909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316AE-3584-2D45-BC60-EDDFCBA9B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68868"/>
            <a:ext cx="6208776" cy="1344168"/>
          </a:xfrm>
        </p:spPr>
        <p:txBody>
          <a:bodyPr>
            <a:normAutofit/>
          </a:bodyPr>
          <a:lstStyle/>
          <a:p>
            <a:r>
              <a:rPr lang="en-GB"/>
              <a:t>Conclusion</a:t>
            </a:r>
            <a:endParaRPr lang="en-L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345FA-9CF1-514E-808C-2DE754B2C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0196"/>
            <a:ext cx="6208776" cy="3967724"/>
          </a:xfrm>
        </p:spPr>
        <p:txBody>
          <a:bodyPr>
            <a:normAutofit/>
          </a:bodyPr>
          <a:lstStyle/>
          <a:p>
            <a:r>
              <a:rPr lang="en-GB" sz="2400"/>
              <a:t>1. According to Cumulative Distribution Function shown below, these two functions are Uniform distribution (continuous) Unif(0,1). </a:t>
            </a:r>
          </a:p>
          <a:p>
            <a:endParaRPr lang="en-GB" sz="2400"/>
          </a:p>
          <a:p>
            <a:r>
              <a:rPr lang="en-GB" sz="2400"/>
              <a:t>2. According to result of test. [Null hypothesis]: both samples come from the same distribution. [Result]: not rejected (all p-value &gt; 0.05) since they do come from the exact same distribution. </a:t>
            </a: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28107581-AD48-7D43-856C-77B88CB13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575" y="543697"/>
            <a:ext cx="8152425" cy="1569339"/>
          </a:xfrm>
          <a:prstGeom prst="rect">
            <a:avLst/>
          </a:prstGeom>
        </p:spPr>
      </p:pic>
      <p:pic>
        <p:nvPicPr>
          <p:cNvPr id="5" name="Picture 4" descr="A screenshot of a map&#10;&#10;Description automatically generated">
            <a:extLst>
              <a:ext uri="{FF2B5EF4-FFF2-40B4-BE49-F238E27FC236}">
                <a16:creationId xmlns:a16="http://schemas.microsoft.com/office/drawing/2014/main" id="{BF0ECFA3-B597-6445-AC81-2D035148DA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64"/>
          <a:stretch/>
        </p:blipFill>
        <p:spPr>
          <a:xfrm>
            <a:off x="7925313" y="2825496"/>
            <a:ext cx="3321807" cy="339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2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E14CD-B354-7543-A3BE-E9CF08053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U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1D968-FDA0-3540-8336-F979C82F7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[1] http://</a:t>
            </a:r>
            <a:r>
              <a:rPr lang="en-GB" dirty="0" err="1"/>
              <a:t>www.physics.csbsju.edu</a:t>
            </a:r>
            <a:r>
              <a:rPr lang="en-GB" dirty="0"/>
              <a:t>/stats/KS-</a:t>
            </a:r>
            <a:r>
              <a:rPr lang="en-GB" dirty="0" err="1"/>
              <a:t>test.html</a:t>
            </a:r>
            <a:r>
              <a:rPr lang="en-GB" dirty="0"/>
              <a:t> </a:t>
            </a:r>
          </a:p>
          <a:p>
            <a:r>
              <a:rPr lang="en-GB" dirty="0"/>
              <a:t>[2] https://</a:t>
            </a:r>
            <a:r>
              <a:rPr lang="en-GB" dirty="0" err="1"/>
              <a:t>davetang.org</a:t>
            </a:r>
            <a:r>
              <a:rPr lang="en-GB" dirty="0"/>
              <a:t>/muse/2012/04/17/comparing-different-distributions/ </a:t>
            </a:r>
          </a:p>
          <a:p>
            <a:r>
              <a:rPr lang="en-GB" dirty="0"/>
              <a:t>[3] Slides provided by Prof. Raymond </a:t>
            </a:r>
            <a:r>
              <a:rPr lang="en-GB" dirty="0" err="1"/>
              <a:t>Bisdorff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3329388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290</Words>
  <Application>Microsoft Macintosh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Project 21 : Compairing two given random requences</vt:lpstr>
      <vt:lpstr>Description</vt:lpstr>
      <vt:lpstr>Tasks</vt:lpstr>
      <vt:lpstr>Content</vt:lpstr>
      <vt:lpstr>Conclusion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21 : Compairing two given random requences</dc:title>
  <dc:creator>XU Jingjing</dc:creator>
  <cp:lastModifiedBy>XU Jingjing</cp:lastModifiedBy>
  <cp:revision>2</cp:revision>
  <dcterms:created xsi:type="dcterms:W3CDTF">2020-01-31T11:53:10Z</dcterms:created>
  <dcterms:modified xsi:type="dcterms:W3CDTF">2020-01-31T11:54:46Z</dcterms:modified>
</cp:coreProperties>
</file>